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nter" charset="1" panose="02000503000000020004"/>
      <p:regular r:id="rId13"/>
    </p:embeddedFont>
    <p:embeddedFont>
      <p:font typeface="Inter Bold" charset="1" panose="02000503000000020004"/>
      <p:regular r:id="rId14"/>
    </p:embeddedFont>
    <p:embeddedFont>
      <p:font typeface="Arimo Bold" charset="1" panose="020B0704020202020204"/>
      <p:regular r:id="rId15"/>
    </p:embeddedFont>
    <p:embeddedFont>
      <p:font typeface="Canva Sans" charset="1" panose="020B0503030501040103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9179" y="552279"/>
            <a:ext cx="13075000" cy="6860340"/>
          </a:xfrm>
          <a:custGeom>
            <a:avLst/>
            <a:gdLst/>
            <a:ahLst/>
            <a:cxnLst/>
            <a:rect r="r" b="b" t="t" l="l"/>
            <a:pathLst>
              <a:path h="6860340" w="13075000">
                <a:moveTo>
                  <a:pt x="0" y="0"/>
                </a:moveTo>
                <a:lnTo>
                  <a:pt x="13075000" y="0"/>
                </a:lnTo>
                <a:lnTo>
                  <a:pt x="13075000" y="6860340"/>
                </a:lnTo>
                <a:lnTo>
                  <a:pt x="0" y="686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58079" y="552279"/>
            <a:ext cx="3086100" cy="2036826"/>
            <a:chOff x="0" y="0"/>
            <a:chExt cx="635000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617904" y="7684480"/>
            <a:ext cx="8326275" cy="57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  <a:spcBef>
                <a:spcPct val="0"/>
              </a:spcBef>
            </a:pPr>
            <a:r>
              <a:rPr lang="en-US" sz="3410">
                <a:solidFill>
                  <a:srgbClr val="612198"/>
                </a:solidFill>
                <a:latin typeface="Inter"/>
                <a:ea typeface="Inter"/>
                <a:cs typeface="Inter"/>
                <a:sym typeface="Inter"/>
              </a:rPr>
              <a:t>NYU Maths professor </a:t>
            </a:r>
            <a:r>
              <a:rPr lang="en-US" sz="3410">
                <a:solidFill>
                  <a:srgbClr val="612198"/>
                </a:solidFill>
                <a:latin typeface="Inter"/>
                <a:ea typeface="Inter"/>
                <a:cs typeface="Inter"/>
                <a:sym typeface="Inter"/>
              </a:rPr>
              <a:t>Tristan Buckmaster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29350" y="3300412"/>
            <a:ext cx="28575" cy="2286000"/>
            <a:chOff x="0" y="0"/>
            <a:chExt cx="38100" cy="304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30075" y="3300412"/>
            <a:ext cx="28575" cy="2286000"/>
            <a:chOff x="0" y="0"/>
            <a:chExt cx="38100" cy="304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914400"/>
            <a:ext cx="17145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THE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1400175"/>
            <a:ext cx="17145000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Speed outpaces regulation.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3433762"/>
            <a:ext cx="5500688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900" b="true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>67%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4776787"/>
            <a:ext cx="372010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[rivate Data in Public LLMs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5195888"/>
            <a:ext cx="4543425" cy="87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524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Employees admit pasting company data in public LLMs.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3725" y="3433762"/>
            <a:ext cx="5500688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9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68%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43725" y="4776787"/>
            <a:ext cx="55006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No Policy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43725" y="5195888"/>
            <a:ext cx="4543425" cy="87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524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StartUps </a:t>
            </a:r>
            <a:r>
              <a:rPr lang="en-US" sz="2524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operating without formal AI governance.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44450" y="3433762"/>
            <a:ext cx="5500688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900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$4.5M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44450" y="4776787"/>
            <a:ext cx="55006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Breach Cost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44450" y="5195888"/>
            <a:ext cx="5500688" cy="431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524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Average financial impact for SMEs.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8650" y="9792952"/>
            <a:ext cx="61117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612198"/>
                </a:solidFill>
                <a:latin typeface="Canva Sans"/>
                <a:ea typeface="Canva Sans"/>
                <a:cs typeface="Canva Sans"/>
                <a:sym typeface="Canva Sans"/>
              </a:rPr>
              <a:t>SOURCE: IBM</a:t>
            </a:r>
            <a:r>
              <a:rPr lang="en-US" sz="1899">
                <a:solidFill>
                  <a:srgbClr val="612198"/>
                </a:solidFill>
                <a:latin typeface="Canva Sans"/>
                <a:ea typeface="Canva Sans"/>
                <a:cs typeface="Canva Sans"/>
                <a:sym typeface="Canva Sans"/>
              </a:rPr>
              <a:t> Security: Cost of a Data Breach Report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0" y="6916484"/>
            <a:ext cx="1143000" cy="85725"/>
            <a:chOff x="0" y="0"/>
            <a:chExt cx="1524000" cy="11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114300"/>
            </a:xfrm>
            <a:custGeom>
              <a:avLst/>
              <a:gdLst/>
              <a:ahLst/>
              <a:cxnLst/>
              <a:rect r="r" b="b" t="t" l="l"/>
              <a:pathLst>
                <a:path h="114300" w="15240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lnTo>
                    <a:pt x="1466850" y="0"/>
                  </a:lnTo>
                  <a:cubicBezTo>
                    <a:pt x="1498473" y="0"/>
                    <a:pt x="1524000" y="25527"/>
                    <a:pt x="1524000" y="57150"/>
                  </a:cubicBezTo>
                  <a:cubicBezTo>
                    <a:pt x="1524000" y="88773"/>
                    <a:pt x="1498473" y="114300"/>
                    <a:pt x="1466850" y="114300"/>
                  </a:cubicBezTo>
                  <a:lnTo>
                    <a:pt x="57150" y="114300"/>
                  </a:ln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636FF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693569" y="3975344"/>
            <a:ext cx="6900862" cy="108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8100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Sentinel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86188" y="5402008"/>
            <a:ext cx="10715625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Real-time data privacy interception for LLM prompts.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0" y="0"/>
            <a:ext cx="8001000" cy="10287000"/>
            <a:chOff x="0" y="0"/>
            <a:chExt cx="10668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668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6863582"/>
            <a:ext cx="457200" cy="457200"/>
            <a:chOff x="0" y="0"/>
            <a:chExt cx="609600" cy="6096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2966218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8B5CF6"/>
                </a:solidFill>
                <a:latin typeface="Inter Bold"/>
                <a:ea typeface="Inter Bold"/>
                <a:cs typeface="Inter Bold"/>
                <a:sym typeface="Inter Bold"/>
              </a:rPr>
              <a:t>THE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3499618"/>
            <a:ext cx="8551069" cy="148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5400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Intercept right when you breach.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5284518"/>
            <a:ext cx="8143875" cy="100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seamless browser extension that blocks sensitive data before it reaches the AI.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8800" y="6911207"/>
            <a:ext cx="507206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Enterprise Browser Extension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468186" y="2350015"/>
            <a:ext cx="3638627" cy="2041674"/>
            <a:chOff x="0" y="0"/>
            <a:chExt cx="4851503" cy="272223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1778884" y="0"/>
              <a:ext cx="1293734" cy="1293734"/>
              <a:chOff x="0" y="0"/>
              <a:chExt cx="1524000" cy="1524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52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1524000">
                    <a:moveTo>
                      <a:pt x="0" y="762000"/>
                    </a:moveTo>
                    <a:cubicBezTo>
                      <a:pt x="0" y="341122"/>
                      <a:pt x="341122" y="0"/>
                      <a:pt x="762000" y="0"/>
                    </a:cubicBezTo>
                    <a:cubicBezTo>
                      <a:pt x="1182878" y="0"/>
                      <a:pt x="1524000" y="341122"/>
                      <a:pt x="1524000" y="762000"/>
                    </a:cubicBezTo>
                    <a:cubicBezTo>
                      <a:pt x="1524000" y="1182878"/>
                      <a:pt x="1182878" y="1524000"/>
                      <a:pt x="762000" y="1524000"/>
                    </a:cubicBezTo>
                    <a:cubicBezTo>
                      <a:pt x="341122" y="1524000"/>
                      <a:pt x="0" y="1182878"/>
                      <a:pt x="0" y="762000"/>
                    </a:cubicBezTo>
                    <a:close/>
                  </a:path>
                </a:pathLst>
              </a:custGeom>
              <a:solidFill>
                <a:srgbClr val="636FF6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536309" y="0"/>
              <a:ext cx="1778884" cy="1293734"/>
              <a:chOff x="0" y="0"/>
              <a:chExt cx="2095500" cy="1524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955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2095500">
                    <a:moveTo>
                      <a:pt x="0" y="0"/>
                    </a:moveTo>
                    <a:lnTo>
                      <a:pt x="2095500" y="0"/>
                    </a:lnTo>
                    <a:lnTo>
                      <a:pt x="20955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43311" t="0" r="-43311" b="0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2095500" cy="15335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00000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1</a:t>
                </a: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237133" y="1662804"/>
              <a:ext cx="2377236" cy="520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50"/>
                </a:lnSpc>
              </a:pPr>
              <a:r>
                <a:rPr lang="en-US" sz="2292" b="true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Intercept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377236"/>
              <a:ext cx="4851503" cy="344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62"/>
                </a:lnSpc>
              </a:pPr>
              <a:r>
                <a:rPr lang="en-US" sz="171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Stops before submission.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468186" y="4736728"/>
            <a:ext cx="3638627" cy="2041674"/>
            <a:chOff x="0" y="0"/>
            <a:chExt cx="4851503" cy="272223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778884" y="0"/>
              <a:ext cx="1293734" cy="1293734"/>
              <a:chOff x="0" y="0"/>
              <a:chExt cx="1524000" cy="1524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52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1524000">
                    <a:moveTo>
                      <a:pt x="0" y="762000"/>
                    </a:moveTo>
                    <a:cubicBezTo>
                      <a:pt x="0" y="341122"/>
                      <a:pt x="341122" y="0"/>
                      <a:pt x="762000" y="0"/>
                    </a:cubicBezTo>
                    <a:cubicBezTo>
                      <a:pt x="1182878" y="0"/>
                      <a:pt x="1524000" y="341122"/>
                      <a:pt x="1524000" y="762000"/>
                    </a:cubicBezTo>
                    <a:cubicBezTo>
                      <a:pt x="1524000" y="1182878"/>
                      <a:pt x="1182878" y="1524000"/>
                      <a:pt x="762000" y="1524000"/>
                    </a:cubicBezTo>
                    <a:cubicBezTo>
                      <a:pt x="341122" y="1524000"/>
                      <a:pt x="0" y="1182878"/>
                      <a:pt x="0" y="762000"/>
                    </a:cubicBezTo>
                    <a:close/>
                  </a:path>
                </a:pathLst>
              </a:custGeom>
              <a:solidFill>
                <a:srgbClr val="636FF6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536309" y="0"/>
              <a:ext cx="1778884" cy="1293734"/>
              <a:chOff x="0" y="0"/>
              <a:chExt cx="2095500" cy="1524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955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2095500">
                    <a:moveTo>
                      <a:pt x="0" y="0"/>
                    </a:moveTo>
                    <a:lnTo>
                      <a:pt x="2095500" y="0"/>
                    </a:lnTo>
                    <a:lnTo>
                      <a:pt x="20955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43311" t="0" r="-43311" b="0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2095500" cy="15335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00000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2</a:t>
                </a: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678620" y="1662804"/>
              <a:ext cx="1494263" cy="520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50"/>
                </a:lnSpc>
              </a:pPr>
              <a:r>
                <a:rPr lang="en-US" sz="2292" b="true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Scan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2377236"/>
              <a:ext cx="4851503" cy="344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62"/>
                </a:lnSpc>
              </a:pPr>
              <a:r>
                <a:rPr lang="en-US" sz="171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Identifies sensitive data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68186" y="6981874"/>
            <a:ext cx="3638627" cy="2300421"/>
            <a:chOff x="0" y="0"/>
            <a:chExt cx="4851503" cy="3067228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1778884" y="0"/>
              <a:ext cx="1293734" cy="1293734"/>
              <a:chOff x="0" y="0"/>
              <a:chExt cx="1524000" cy="1524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52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1524000">
                    <a:moveTo>
                      <a:pt x="0" y="762000"/>
                    </a:moveTo>
                    <a:cubicBezTo>
                      <a:pt x="0" y="341122"/>
                      <a:pt x="341122" y="0"/>
                      <a:pt x="762000" y="0"/>
                    </a:cubicBezTo>
                    <a:cubicBezTo>
                      <a:pt x="1182878" y="0"/>
                      <a:pt x="1524000" y="341122"/>
                      <a:pt x="1524000" y="762000"/>
                    </a:cubicBezTo>
                    <a:cubicBezTo>
                      <a:pt x="1524000" y="1182878"/>
                      <a:pt x="1182878" y="1524000"/>
                      <a:pt x="762000" y="1524000"/>
                    </a:cubicBezTo>
                    <a:cubicBezTo>
                      <a:pt x="341122" y="1524000"/>
                      <a:pt x="0" y="1182878"/>
                      <a:pt x="0" y="762000"/>
                    </a:cubicBezTo>
                    <a:close/>
                  </a:path>
                </a:pathLst>
              </a:custGeom>
              <a:solidFill>
                <a:srgbClr val="636FF6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1536309" y="0"/>
              <a:ext cx="1778884" cy="1293734"/>
              <a:chOff x="0" y="0"/>
              <a:chExt cx="2095500" cy="1524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0955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2095500">
                    <a:moveTo>
                      <a:pt x="0" y="0"/>
                    </a:moveTo>
                    <a:lnTo>
                      <a:pt x="2095500" y="0"/>
                    </a:lnTo>
                    <a:lnTo>
                      <a:pt x="20955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43311" t="0" r="-43311" b="0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9525"/>
                <a:ext cx="2095500" cy="15335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00000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3</a:t>
                </a: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406936" y="1662804"/>
              <a:ext cx="2037631" cy="520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50"/>
                </a:lnSpc>
              </a:pPr>
              <a:r>
                <a:rPr lang="en-US" sz="2292" b="true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Resolve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2377236"/>
              <a:ext cx="4851503" cy="689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62"/>
                </a:lnSpc>
              </a:pPr>
              <a:r>
                <a:rPr lang="en-US" sz="171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Anonymous Prompt ready to execute, suggestions.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714875" y="421203"/>
            <a:ext cx="19145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IN PRACTICE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14875" y="906978"/>
            <a:ext cx="19145250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The interception process.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5856" y="2514600"/>
            <a:ext cx="5043488" cy="2303661"/>
            <a:chOff x="0" y="0"/>
            <a:chExt cx="6724650" cy="3071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24650" cy="3071548"/>
            </a:xfrm>
            <a:custGeom>
              <a:avLst/>
              <a:gdLst/>
              <a:ahLst/>
              <a:cxnLst/>
              <a:rect r="r" b="b" t="t" l="l"/>
              <a:pathLst>
                <a:path h="3071548" w="6724650">
                  <a:moveTo>
                    <a:pt x="0" y="111512"/>
                  </a:moveTo>
                  <a:cubicBezTo>
                    <a:pt x="0" y="49895"/>
                    <a:pt x="136779" y="0"/>
                    <a:pt x="305689" y="0"/>
                  </a:cubicBezTo>
                  <a:lnTo>
                    <a:pt x="6418961" y="0"/>
                  </a:lnTo>
                  <a:cubicBezTo>
                    <a:pt x="6587744" y="0"/>
                    <a:pt x="6724650" y="49895"/>
                    <a:pt x="6724650" y="111512"/>
                  </a:cubicBezTo>
                  <a:lnTo>
                    <a:pt x="6724650" y="2960037"/>
                  </a:lnTo>
                  <a:cubicBezTo>
                    <a:pt x="6724650" y="3021606"/>
                    <a:pt x="6587871" y="3071548"/>
                    <a:pt x="6418961" y="3071548"/>
                  </a:cubicBezTo>
                  <a:lnTo>
                    <a:pt x="305689" y="3071548"/>
                  </a:lnTo>
                  <a:cubicBezTo>
                    <a:pt x="136779" y="3071548"/>
                    <a:pt x="0" y="3021653"/>
                    <a:pt x="0" y="2960037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22256" y="2514600"/>
            <a:ext cx="5043488" cy="2303661"/>
            <a:chOff x="0" y="0"/>
            <a:chExt cx="6724650" cy="30715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4650" cy="3071548"/>
            </a:xfrm>
            <a:custGeom>
              <a:avLst/>
              <a:gdLst/>
              <a:ahLst/>
              <a:cxnLst/>
              <a:rect r="r" b="b" t="t" l="l"/>
              <a:pathLst>
                <a:path h="3071548" w="6724650">
                  <a:moveTo>
                    <a:pt x="0" y="111512"/>
                  </a:moveTo>
                  <a:cubicBezTo>
                    <a:pt x="0" y="49895"/>
                    <a:pt x="136779" y="0"/>
                    <a:pt x="305689" y="0"/>
                  </a:cubicBezTo>
                  <a:lnTo>
                    <a:pt x="6418961" y="0"/>
                  </a:lnTo>
                  <a:cubicBezTo>
                    <a:pt x="6587744" y="0"/>
                    <a:pt x="6724650" y="49895"/>
                    <a:pt x="6724650" y="111512"/>
                  </a:cubicBezTo>
                  <a:lnTo>
                    <a:pt x="6724650" y="2960037"/>
                  </a:lnTo>
                  <a:cubicBezTo>
                    <a:pt x="6724650" y="3021606"/>
                    <a:pt x="6587871" y="3071548"/>
                    <a:pt x="6418961" y="3071548"/>
                  </a:cubicBezTo>
                  <a:lnTo>
                    <a:pt x="305689" y="3071548"/>
                  </a:lnTo>
                  <a:cubicBezTo>
                    <a:pt x="136779" y="3071548"/>
                    <a:pt x="0" y="3021653"/>
                    <a:pt x="0" y="2960037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08656" y="2514600"/>
            <a:ext cx="5043488" cy="2303661"/>
            <a:chOff x="0" y="0"/>
            <a:chExt cx="6724650" cy="3071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24650" cy="3071548"/>
            </a:xfrm>
            <a:custGeom>
              <a:avLst/>
              <a:gdLst/>
              <a:ahLst/>
              <a:cxnLst/>
              <a:rect r="r" b="b" t="t" l="l"/>
              <a:pathLst>
                <a:path h="3071548" w="6724650">
                  <a:moveTo>
                    <a:pt x="0" y="111512"/>
                  </a:moveTo>
                  <a:cubicBezTo>
                    <a:pt x="0" y="49895"/>
                    <a:pt x="136779" y="0"/>
                    <a:pt x="305689" y="0"/>
                  </a:cubicBezTo>
                  <a:lnTo>
                    <a:pt x="6418961" y="0"/>
                  </a:lnTo>
                  <a:cubicBezTo>
                    <a:pt x="6587744" y="0"/>
                    <a:pt x="6724650" y="49895"/>
                    <a:pt x="6724650" y="111512"/>
                  </a:cubicBezTo>
                  <a:lnTo>
                    <a:pt x="6724650" y="2960037"/>
                  </a:lnTo>
                  <a:cubicBezTo>
                    <a:pt x="6724650" y="3021606"/>
                    <a:pt x="6587871" y="3071548"/>
                    <a:pt x="6418961" y="3071548"/>
                  </a:cubicBezTo>
                  <a:lnTo>
                    <a:pt x="305689" y="3071548"/>
                  </a:lnTo>
                  <a:cubicBezTo>
                    <a:pt x="136779" y="3071548"/>
                    <a:pt x="0" y="3021653"/>
                    <a:pt x="0" y="2960037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728788" y="2514600"/>
            <a:ext cx="3857625" cy="457200"/>
            <a:chOff x="0" y="0"/>
            <a:chExt cx="5143500" cy="609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143500" cy="609600"/>
            </a:xfrm>
            <a:custGeom>
              <a:avLst/>
              <a:gdLst/>
              <a:ahLst/>
              <a:cxnLst/>
              <a:rect r="r" b="b" t="t" l="l"/>
              <a:pathLst>
                <a:path h="6096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5" t="0" r="-18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215188" y="2514600"/>
            <a:ext cx="3857625" cy="457200"/>
            <a:chOff x="0" y="0"/>
            <a:chExt cx="514350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143500" cy="609600"/>
            </a:xfrm>
            <a:custGeom>
              <a:avLst/>
              <a:gdLst/>
              <a:ahLst/>
              <a:cxnLst/>
              <a:rect r="r" b="b" t="t" l="l"/>
              <a:pathLst>
                <a:path h="6096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0" t="0" r="-37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701588" y="2514600"/>
            <a:ext cx="3857625" cy="457200"/>
            <a:chOff x="0" y="0"/>
            <a:chExt cx="5143500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143500" cy="609600"/>
            </a:xfrm>
            <a:custGeom>
              <a:avLst/>
              <a:gdLst/>
              <a:ahLst/>
              <a:cxnLst/>
              <a:rect r="r" b="b" t="t" l="l"/>
              <a:pathLst>
                <a:path h="6096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0" t="0" r="-37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3000" y="914400"/>
            <a:ext cx="242877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CAPABILITIES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" y="1400175"/>
            <a:ext cx="17145000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Three layers of protection.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8788" y="3295650"/>
            <a:ext cx="5063128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Live Prompt Scanning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8788" y="3919537"/>
            <a:ext cx="40005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Checks inputs before submission.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15188" y="3295650"/>
            <a:ext cx="5063128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Audit Certificate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15188" y="3919537"/>
            <a:ext cx="40005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Public proof of data compliance.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01588" y="3295650"/>
            <a:ext cx="5063128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Trigger Warnings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01588" y="3919537"/>
            <a:ext cx="4822031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Immediate alerts to IT teams.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95400" y="6269831"/>
            <a:ext cx="257175" cy="300038"/>
            <a:chOff x="0" y="0"/>
            <a:chExt cx="342900" cy="4000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95400" y="7455694"/>
            <a:ext cx="257175" cy="300038"/>
            <a:chOff x="0" y="0"/>
            <a:chExt cx="342900" cy="4000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95400" y="8641556"/>
            <a:ext cx="257175" cy="300038"/>
            <a:chOff x="0" y="0"/>
            <a:chExt cx="342900" cy="4000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753600" y="6269831"/>
            <a:ext cx="257175" cy="300038"/>
            <a:chOff x="0" y="0"/>
            <a:chExt cx="342900" cy="40005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753600" y="7455694"/>
            <a:ext cx="257175" cy="300038"/>
            <a:chOff x="0" y="0"/>
            <a:chExt cx="342900" cy="40005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53600" y="8641556"/>
            <a:ext cx="257175" cy="300038"/>
            <a:chOff x="0" y="0"/>
            <a:chExt cx="342900" cy="40005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95400" y="5246886"/>
            <a:ext cx="17145000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What Sentinel intercepts.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81175" y="6210300"/>
            <a:ext cx="573285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PII &amp; Credentials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81175" y="6638925"/>
            <a:ext cx="5732859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Names, emails, API keys, passwords.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81175" y="7396163"/>
            <a:ext cx="439340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Financial Data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81175" y="7824787"/>
            <a:ext cx="4393406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Revenue figures, cap tables.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81175" y="8582025"/>
            <a:ext cx="37147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Customer Data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81175" y="9010650"/>
            <a:ext cx="37147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Client names, contracts.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39375" y="6210300"/>
            <a:ext cx="350043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IP &amp; Source Code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39375" y="6638925"/>
            <a:ext cx="3500438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Proprietary algorithms.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39375" y="7396163"/>
            <a:ext cx="330398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Legal Documents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39375" y="7824787"/>
            <a:ext cx="3303984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NDAs, term sheets.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39375" y="8582025"/>
            <a:ext cx="562570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Custom Patterns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39375" y="9010650"/>
            <a:ext cx="5625703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Company-defined project keywords.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9763" y="22616"/>
            <a:ext cx="12513063" cy="10264384"/>
          </a:xfrm>
          <a:custGeom>
            <a:avLst/>
            <a:gdLst/>
            <a:ahLst/>
            <a:cxnLst/>
            <a:rect r="r" b="b" t="t" l="l"/>
            <a:pathLst>
              <a:path h="10264384" w="12513063">
                <a:moveTo>
                  <a:pt x="0" y="0"/>
                </a:moveTo>
                <a:lnTo>
                  <a:pt x="12513064" y="0"/>
                </a:lnTo>
                <a:lnTo>
                  <a:pt x="12513064" y="10264384"/>
                </a:lnTo>
                <a:lnTo>
                  <a:pt x="0" y="10264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7" r="0" b="-33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646015" y="1562926"/>
            <a:ext cx="1406257" cy="393752"/>
          </a:xfrm>
          <a:custGeom>
            <a:avLst/>
            <a:gdLst/>
            <a:ahLst/>
            <a:cxnLst/>
            <a:rect r="r" b="b" t="t" l="l"/>
            <a:pathLst>
              <a:path h="393752" w="1406257">
                <a:moveTo>
                  <a:pt x="1406257" y="393752"/>
                </a:moveTo>
                <a:lnTo>
                  <a:pt x="0" y="393752"/>
                </a:lnTo>
                <a:lnTo>
                  <a:pt x="0" y="0"/>
                </a:lnTo>
                <a:lnTo>
                  <a:pt x="1406257" y="0"/>
                </a:lnTo>
                <a:lnTo>
                  <a:pt x="1406257" y="39375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898028" y="2428161"/>
            <a:ext cx="4131478" cy="409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Browser Extension with</a:t>
            </a:r>
          </a:p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red flags highlighted</a:t>
            </a:r>
          </a:p>
          <a:p>
            <a:pPr algn="l">
              <a:lnSpc>
                <a:spcPts val="2970"/>
              </a:lnSpc>
            </a:pPr>
          </a:p>
          <a:p>
            <a:pPr algn="l">
              <a:lnSpc>
                <a:spcPts val="2970"/>
              </a:lnSpc>
            </a:pPr>
          </a:p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Anonymized prompt based</a:t>
            </a:r>
          </a:p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pn initial input</a:t>
            </a:r>
          </a:p>
          <a:p>
            <a:pPr algn="l">
              <a:lnSpc>
                <a:spcPts val="2970"/>
              </a:lnSpc>
            </a:pPr>
          </a:p>
          <a:p>
            <a:pPr algn="l">
              <a:lnSpc>
                <a:spcPts val="2970"/>
              </a:lnSpc>
            </a:pPr>
          </a:p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Responsible AI suggestions</a:t>
            </a:r>
          </a:p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based on prompt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82334" y="914400"/>
            <a:ext cx="252333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THE BUILDERS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428625" y="1400175"/>
            <a:ext cx="19145250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Team Sentinel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1483" y="7895311"/>
            <a:ext cx="491310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WU Vienna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8460" y="8400136"/>
            <a:ext cx="467915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Digital Economy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29191" y="7895311"/>
            <a:ext cx="491310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FHWien der WKW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46167" y="8400136"/>
            <a:ext cx="467915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Executive Management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67320" y="7781011"/>
            <a:ext cx="491310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UNI Wien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84296" y="8285836"/>
            <a:ext cx="467915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Mathematics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26691" y="7795299"/>
            <a:ext cx="491310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UNI Wien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43667" y="8300124"/>
            <a:ext cx="467915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Computer Science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21483" y="1793081"/>
            <a:ext cx="17845034" cy="4708791"/>
            <a:chOff x="0" y="0"/>
            <a:chExt cx="23793379" cy="62783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45791" y="824653"/>
              <a:ext cx="5453735" cy="5453735"/>
            </a:xfrm>
            <a:custGeom>
              <a:avLst/>
              <a:gdLst/>
              <a:ahLst/>
              <a:cxnLst/>
              <a:rect r="r" b="b" t="t" l="l"/>
              <a:pathLst>
                <a:path h="5453735" w="5453735">
                  <a:moveTo>
                    <a:pt x="0" y="0"/>
                  </a:moveTo>
                  <a:lnTo>
                    <a:pt x="5453735" y="0"/>
                  </a:lnTo>
                  <a:lnTo>
                    <a:pt x="5453735" y="5453735"/>
                  </a:lnTo>
                  <a:lnTo>
                    <a:pt x="0" y="5453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824653"/>
              <a:ext cx="5453735" cy="5453735"/>
            </a:xfrm>
            <a:custGeom>
              <a:avLst/>
              <a:gdLst/>
              <a:ahLst/>
              <a:cxnLst/>
              <a:rect r="r" b="b" t="t" l="l"/>
              <a:pathLst>
                <a:path h="5453735" w="5453735">
                  <a:moveTo>
                    <a:pt x="0" y="0"/>
                  </a:moveTo>
                  <a:lnTo>
                    <a:pt x="5453735" y="0"/>
                  </a:lnTo>
                  <a:lnTo>
                    <a:pt x="5453735" y="5453735"/>
                  </a:lnTo>
                  <a:lnTo>
                    <a:pt x="0" y="5453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339809" y="824653"/>
              <a:ext cx="5453735" cy="5453735"/>
            </a:xfrm>
            <a:custGeom>
              <a:avLst/>
              <a:gdLst/>
              <a:ahLst/>
              <a:cxnLst/>
              <a:rect r="r" b="b" t="t" l="l"/>
              <a:pathLst>
                <a:path h="5453735" w="5453735">
                  <a:moveTo>
                    <a:pt x="0" y="0"/>
                  </a:moveTo>
                  <a:lnTo>
                    <a:pt x="5453735" y="0"/>
                  </a:lnTo>
                  <a:lnTo>
                    <a:pt x="5453735" y="5453735"/>
                  </a:lnTo>
                  <a:lnTo>
                    <a:pt x="0" y="5453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339644" y="824653"/>
              <a:ext cx="5453735" cy="5453735"/>
            </a:xfrm>
            <a:custGeom>
              <a:avLst/>
              <a:gdLst/>
              <a:ahLst/>
              <a:cxnLst/>
              <a:rect r="r" b="b" t="t" l="l"/>
              <a:pathLst>
                <a:path h="5453735" w="5453735">
                  <a:moveTo>
                    <a:pt x="0" y="0"/>
                  </a:moveTo>
                  <a:lnTo>
                    <a:pt x="5453735" y="0"/>
                  </a:lnTo>
                  <a:lnTo>
                    <a:pt x="5453735" y="5453735"/>
                  </a:lnTo>
                  <a:lnTo>
                    <a:pt x="0" y="5453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62449" y="-38100"/>
              <a:ext cx="2128838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Bushra Shakil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-1268971" y="7082085"/>
            <a:ext cx="7898927" cy="57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617" b="true">
                <a:solidFill>
                  <a:srgbClr val="612198"/>
                </a:solidFill>
                <a:latin typeface="Arimo Bold"/>
                <a:ea typeface="Arimo Bold"/>
                <a:cs typeface="Arimo Bold"/>
                <a:sym typeface="Arimo Bold"/>
              </a:rPr>
              <a:t>Bushra Shakil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36282" y="7063847"/>
            <a:ext cx="7898927" cy="57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617" b="true">
                <a:solidFill>
                  <a:srgbClr val="612198"/>
                </a:solidFill>
                <a:latin typeface="Arimo Bold"/>
                <a:ea typeface="Arimo Bold"/>
                <a:cs typeface="Arimo Bold"/>
                <a:sym typeface="Arimo Bold"/>
              </a:rPr>
              <a:t>Shahzad Amin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07823" y="7063847"/>
            <a:ext cx="7898927" cy="57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617" b="true">
                <a:solidFill>
                  <a:srgbClr val="612198"/>
                </a:solidFill>
                <a:latin typeface="Arimo Bold"/>
                <a:ea typeface="Arimo Bold"/>
                <a:cs typeface="Arimo Bold"/>
                <a:sym typeface="Arimo Bold"/>
              </a:rPr>
              <a:t>Alishba Chohan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74411" y="7082085"/>
            <a:ext cx="7898927" cy="57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617" b="true">
                <a:solidFill>
                  <a:srgbClr val="612198"/>
                </a:solidFill>
                <a:latin typeface="Arimo Bold"/>
                <a:ea typeface="Arimo Bold"/>
                <a:cs typeface="Arimo Bold"/>
                <a:sym typeface="Arimo Bold"/>
              </a:rPr>
              <a:t>Chisom Okafor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DAHY7eFwehw</dc:identifier>
  <dcterms:modified xsi:type="dcterms:W3CDTF">2011-08-01T06:04:30Z</dcterms:modified>
  <cp:revision>1</cp:revision>
  <dc:title>Sentinel AI Privacy Shield.pptx</dc:title>
</cp:coreProperties>
</file>